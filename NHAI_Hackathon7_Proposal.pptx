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748"/>
                </a:solidFill>
                <a:latin typeface="Arial"/>
              </a:rPr>
              <a:t>Model sizes (MB) after INT8 quantisation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 size (MB)</c:v>
                </c:pt>
              </c:strCache>
            </c:strRef>
          </c:tx>
          <c:spPr>
            <a:solidFill>
              <a:srgbClr val="00C2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C2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C2A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MediaPipe
Face Mesh</c:v>
                  </c:pt>
                  <c:pt idx="1">
                    <c:v>MiniFASNet
Anti-spoof</c:v>
                  </c:pt>
                  <c:pt idx="2">
                    <c:v>MobileFaceNet
Recognition</c:v>
                  </c:pt>
                  <c:pt idx="3">
                    <c:v>Total
Pipeline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0.4</c:v>
                </c:pt>
                <c:pt idx="2">
                  <c:v>1.3</c:v>
                </c:pt>
                <c:pt idx="3">
                  <c:v>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2D374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2D3748"/>
                </a:solidFill>
                <a:latin typeface="Arial"/>
              </a:rPr>
              <a:t>Inference speed (ms) — target: &lt;1000 ms total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time (ms)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20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A6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1809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162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Face
Mesh</c:v>
                  </c:pt>
                  <c:pt idx="1">
                    <c:v>Anti-
spoof</c:v>
                  </c:pt>
                  <c:pt idx="2">
                    <c:v>CLAHE
Prep</c:v>
                  </c:pt>
                  <c:pt idx="3">
                    <c:v>Face
Recog.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30</c:v>
                </c:pt>
                <c:pt idx="2">
                  <c:v>10</c:v>
                </c:pt>
                <c:pt idx="3">
                  <c:v>60</c:v>
                </c:pt>
                <c:pt idx="4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20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1809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274320"/>
            <a:ext cx="2377440" cy="475488"/>
          </a:xfrm>
          <a:prstGeom prst="roundRect">
            <a:avLst>
              <a:gd name="adj" fmla="val 15385"/>
            </a:avLst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0" y="2743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NHAI INNOVATION HACKATHON 7.0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18872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00C2A8"/>
                </a:solidFill>
              </a:rPr>
              <a:t>7.0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64922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500" kern="0" dirty="0">
                <a:solidFill>
                  <a:srgbClr val="8BA3BE"/>
                </a:solidFill>
              </a:rPr>
              <a:t>HACKATHON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64008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Offline Facial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Recognition &amp;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Liveness Detection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411480" y="320040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A3BE"/>
                </a:solidFill>
              </a:rPr>
              <a:t>A secure, lightweight, entirely offline face authentication system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BA3BE"/>
                </a:solidFill>
              </a:rPr>
              <a:t>for NHAI field personnel — built for zero-network zones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11480" y="4480560"/>
            <a:ext cx="5029200" cy="27432"/>
          </a:xfrm>
          <a:prstGeom prst="rect">
            <a:avLst/>
          </a:prstGeom>
          <a:solidFill>
            <a:srgbClr val="009E88"/>
          </a:solidFill>
          <a:ln w="12700">
            <a:solidFill>
              <a:srgbClr val="009E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" y="4553712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Submission: 05 June 2026  ·  React Native  ·  TFLite  ·  Open Source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096"/>
                </a:solidFill>
              </a:rPr>
              <a:t>Why does NHAI need this?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43000"/>
            <a:ext cx="265176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71600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193852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Zero-network zones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12064" y="24231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A3BE"/>
                </a:solidFill>
              </a:rPr>
              <a:t>NHAI field personnel operate in remote highway locations with no 3G/4G coverage, making cloud-based authentication completely unusable.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82112" y="1143000"/>
            <a:ext cx="2651760" cy="35661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371600"/>
            <a:ext cx="438912" cy="4389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46704" y="193852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Attendance fraud risk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46704" y="24231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A3BE"/>
                </a:solidFill>
              </a:rPr>
              <a:t>Without liveness detection, face auth systems are vulnerable to photo or screen spoofing — a critical security gap for government field attendance.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16752" y="1143000"/>
            <a:ext cx="265176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371600"/>
            <a:ext cx="438912" cy="4389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81344" y="193852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Device constraints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181344" y="2423160"/>
            <a:ext cx="2331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A3BE"/>
                </a:solidFill>
              </a:rPr>
              <a:t>Mid-range devices (3 GB RAM, no GPU) require models under 20 MB that authenticate in under 1 second — impossible with standard ResNet-50 (~100 MB).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47472" y="4800600"/>
            <a:ext cx="8458200" cy="274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47472" y="4846320"/>
            <a:ext cx="8458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18096"/>
                </a:solidFill>
              </a:rPr>
              <a:t>"How can we accurately authenticate field personnel using facial recognition on mid-range devices without any internet connection?"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E"/>
                </a:solidFill>
              </a:rPr>
              <a:t>A 3-layer edge AI pipeline — entirely on-device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2606040" cy="320040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261872"/>
            <a:ext cx="457200" cy="4572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353312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76072" y="19659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Face Detection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&amp; Landmarks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76072" y="267004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2A8"/>
                </a:solidFill>
              </a:rPr>
              <a:t>MediaPipe Face Mesh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C2A8"/>
                </a:solidFill>
              </a:rPr>
              <a:t>INT8 · 1.2 MB · 15 ms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6072" y="3401568"/>
            <a:ext cx="2286000" cy="182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Landmark tracking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76072" y="3730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Blink/smile/yaw checks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76072" y="39684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CLAHE lighting fix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017520" y="2724912"/>
            <a:ext cx="246888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64408" y="1143000"/>
            <a:ext cx="2606040" cy="3200400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47288" y="1261872"/>
            <a:ext cx="457200" cy="457200"/>
          </a:xfrm>
          <a:prstGeom prst="ellipse">
            <a:avLst/>
          </a:prstGeom>
          <a:solidFill>
            <a:srgbClr val="009E88"/>
          </a:solidFill>
          <a:ln w="12700">
            <a:solidFill>
              <a:srgbClr val="009E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47288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02</a:t>
            </a:r>
            <a:endParaRPr lang="en-US" sz="11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7368" y="1353312"/>
            <a:ext cx="502920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429000" y="19659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Liveness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Detection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3429000" y="267004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9E88"/>
                </a:solidFill>
              </a:rPr>
              <a:t>MiniFASNet + EAR/MAR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09E88"/>
                </a:solidFill>
              </a:rPr>
              <a:t>INT8 · 400 KB · 30 ms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3429000" y="3401568"/>
            <a:ext cx="2286000" cy="182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Passive spoof detection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3429000" y="3730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Photo/screen block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429000" y="39684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2D vs 3D analysis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870448" y="2724912"/>
            <a:ext cx="246888" cy="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17336" y="1143000"/>
            <a:ext cx="2606040" cy="3200400"/>
          </a:xfrm>
          <a:prstGeom prst="rect">
            <a:avLst/>
          </a:prstGeom>
          <a:solidFill>
            <a:srgbClr val="162B4D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6300216" y="1261872"/>
            <a:ext cx="457200" cy="457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00216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03</a:t>
            </a:r>
            <a:endParaRPr lang="en-US" sz="11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0296" y="1353312"/>
            <a:ext cx="502920" cy="50292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281928" y="196596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Face Recognition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&amp; Match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6281928" y="267004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A1628"/>
                </a:solidFill>
              </a:rPr>
              <a:t>MobileFaceNet INT8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0A1628"/>
                </a:solidFill>
              </a:rPr>
              <a:t>1.3 MB · 60 ms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281928" y="3401568"/>
            <a:ext cx="2286000" cy="18288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6281928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128-d embeddings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281928" y="3730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Cosine similarity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281928" y="39684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· SQLCipher encrypted DB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749808" y="4434840"/>
            <a:ext cx="173736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9E88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749808" y="4434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</a:rPr>
              <a:t>~115 ms</a:t>
            </a:r>
            <a:endParaRPr lang="en-US" sz="1800" dirty="0"/>
          </a:p>
        </p:txBody>
      </p:sp>
      <p:sp>
        <p:nvSpPr>
          <p:cNvPr id="39" name="Text 34"/>
          <p:cNvSpPr/>
          <p:nvPr/>
        </p:nvSpPr>
        <p:spPr>
          <a:xfrm>
            <a:off x="749808" y="4782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E"/>
                </a:solidFill>
              </a:rPr>
              <a:t>Total pipeline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2761488" y="4434840"/>
            <a:ext cx="173736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9E88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2761488" y="4434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</a:rPr>
              <a:t>2.9 MB</a:t>
            </a:r>
            <a:endParaRPr lang="en-US" sz="1800" dirty="0"/>
          </a:p>
        </p:txBody>
      </p:sp>
      <p:sp>
        <p:nvSpPr>
          <p:cNvPr id="42" name="Text 37"/>
          <p:cNvSpPr/>
          <p:nvPr/>
        </p:nvSpPr>
        <p:spPr>
          <a:xfrm>
            <a:off x="2761488" y="4782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E"/>
                </a:solidFill>
              </a:rPr>
              <a:t>INT8 model size</a:t>
            </a:r>
            <a:endParaRPr lang="en-US" sz="900" dirty="0"/>
          </a:p>
        </p:txBody>
      </p:sp>
      <p:sp>
        <p:nvSpPr>
          <p:cNvPr id="43" name="Shape 38"/>
          <p:cNvSpPr/>
          <p:nvPr/>
        </p:nvSpPr>
        <p:spPr>
          <a:xfrm>
            <a:off x="4773168" y="4434840"/>
            <a:ext cx="173736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9E88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773168" y="4434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</a:rPr>
              <a:t>&gt;97%</a:t>
            </a:r>
            <a:endParaRPr lang="en-US" sz="1800" dirty="0"/>
          </a:p>
        </p:txBody>
      </p:sp>
      <p:sp>
        <p:nvSpPr>
          <p:cNvPr id="45" name="Text 40"/>
          <p:cNvSpPr/>
          <p:nvPr/>
        </p:nvSpPr>
        <p:spPr>
          <a:xfrm>
            <a:off x="4773168" y="4782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E"/>
                </a:solidFill>
              </a:rPr>
              <a:t>Recognition accuracy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6784848" y="4434840"/>
            <a:ext cx="173736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09E88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6784848" y="44348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2A8"/>
                </a:solidFill>
              </a:rPr>
              <a:t>100%</a:t>
            </a:r>
            <a:endParaRPr lang="en-US" sz="1800" dirty="0"/>
          </a:p>
        </p:txBody>
      </p:sp>
      <p:sp>
        <p:nvSpPr>
          <p:cNvPr id="48" name="Text 43"/>
          <p:cNvSpPr/>
          <p:nvPr/>
        </p:nvSpPr>
        <p:spPr>
          <a:xfrm>
            <a:off x="6784848" y="47823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E"/>
                </a:solidFill>
              </a:rPr>
              <a:t>Offline operation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</a:rPr>
              <a:t>Technical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React Native · VisionCamera V4 · TFLite INT8 · SQLCipher · AWS S3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5760720" cy="3520440"/>
          </a:xfrm>
          <a:prstGeom prst="rect">
            <a:avLst/>
          </a:prstGeom>
          <a:solidFill>
            <a:srgbClr val="EBF8FF"/>
          </a:solidFill>
          <a:ln w="12700">
            <a:solidFill>
              <a:srgbClr val="90CD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6CB0"/>
                </a:solidFill>
              </a:rPr>
              <a:t>React Native App (Datalake 3.0)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481328"/>
            <a:ext cx="5394960" cy="1508760"/>
          </a:xfrm>
          <a:prstGeom prst="rect">
            <a:avLst/>
          </a:prstGeom>
          <a:solidFill>
            <a:srgbClr val="E6FFFA"/>
          </a:solidFill>
          <a:ln w="12700">
            <a:solidFill>
              <a:srgbClr val="81E6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961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34E52"/>
                </a:solidFill>
              </a:rPr>
              <a:t>Native layer — VisionCamera Frame Processor (no JS bridge)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11887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8288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Camera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feed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783080" y="2331720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92808" y="1828800"/>
            <a:ext cx="11887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92808" y="18288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MediaPipe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Face Mesh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081528" y="2331720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1256" y="1828800"/>
            <a:ext cx="1188720" cy="1005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191256" y="18288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MiniFASNet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Anti-spoof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79976" y="2331720"/>
            <a:ext cx="109728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9704" y="1828800"/>
            <a:ext cx="118872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89704" y="18288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MobileFaceNet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Embedding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5394960" cy="1143000"/>
          </a:xfrm>
          <a:prstGeom prst="rect">
            <a:avLst/>
          </a:prstGeom>
          <a:solidFill>
            <a:srgbClr val="EDF2F7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45536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18096"/>
                </a:solidFill>
              </a:rPr>
              <a:t>JS thread — result struct only (~5 fields)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85800" y="3429000"/>
            <a:ext cx="1463040" cy="65836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29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Auth state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95728" y="3429000"/>
            <a:ext cx="1463040" cy="65836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95728" y="3429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Liveness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 UI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05656" y="3429000"/>
            <a:ext cx="1463040" cy="658368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05656" y="342900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SQLCipher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vector DB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926080" y="2852928"/>
            <a:ext cx="0" cy="256032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287121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0C2A8"/>
                </a:solidFill>
              </a:rPr>
              <a:t>result struct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309360" y="1097280"/>
            <a:ext cx="251460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07008"/>
            <a:ext cx="347472" cy="34747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858000" y="1207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 storage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446520" y="160020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· SQLCipher encrypted embeddings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· Keychain-protected 256-bit key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· AsyncStorage attendance logs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571232" y="2651760"/>
            <a:ext cx="0" cy="41148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46520" y="2743200"/>
            <a:ext cx="2240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C2A8"/>
                </a:solidFill>
              </a:rPr>
              <a:t>network restored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6309360" y="3063240"/>
            <a:ext cx="2514600" cy="1554480"/>
          </a:xfrm>
          <a:prstGeom prst="rect">
            <a:avLst/>
          </a:prstGeom>
          <a:solidFill>
            <a:srgbClr val="0A254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3172968"/>
            <a:ext cx="347472" cy="347472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858000" y="3172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AWS backend</a:t>
            </a:r>
            <a:endParaRPr lang="en-US" sz="1200" dirty="0"/>
          </a:p>
        </p:txBody>
      </p:sp>
      <p:sp>
        <p:nvSpPr>
          <p:cNvPr id="39" name="Text 35"/>
          <p:cNvSpPr/>
          <p:nvPr/>
        </p:nvSpPr>
        <p:spPr>
          <a:xfrm>
            <a:off x="6446520" y="35661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· S3 (ap-south-1) + SSE-AES256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· Lambda ingest function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· Purge on HTTP 200 confirm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Multi-Layer Liveness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E"/>
                </a:solidFill>
              </a:rPr>
              <a:t>Passive deep-learning + active geometric challenge — zero spoofing vectors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023360" cy="3611880"/>
          </a:xfrm>
          <a:prstGeom prst="rect">
            <a:avLst/>
          </a:prstGeom>
          <a:solidFill>
            <a:srgbClr val="162B4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34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5A623"/>
                </a:solidFill>
              </a:rPr>
              <a:t>PASSIVE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MiniFASNet deep analysis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6576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A3BE"/>
                </a:solidFill>
              </a:rPr>
              <a:t>Runs on every frame without prompting the user. Analyses skin texture, micro-reflections, and colour patterns to distinguish a real face from a photo, screen, or 3D mask.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34640"/>
            <a:ext cx="370332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8346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Photo spoof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0280" y="28346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Blocked via texture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3163824"/>
            <a:ext cx="3703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6382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Screen replay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31638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Blocked via moire detection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493008"/>
            <a:ext cx="370332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9300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3D mask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240280" y="3493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Blocked via micro-reflection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822192"/>
            <a:ext cx="370332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221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Model size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240280" y="38221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~400 KB (INT8 quantised)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51376"/>
            <a:ext cx="370332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15137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Speed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240280" y="41513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A8"/>
                </a:solidFill>
              </a:rPr>
              <a:t>~30 ms on mid-range device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4023360" cy="36118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1234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C2A8"/>
                </a:solidFill>
              </a:rPr>
              <a:t>ACTIVE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4632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3-step gesture challenge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846320" y="2011680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21808" y="1965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Blink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1808" y="2286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3BE"/>
                </a:solidFill>
              </a:rPr>
              <a:t>Eye Aspect Ratio (EAR)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3BE"/>
                </a:solidFill>
              </a:rPr>
              <a:t>via face mesh landmarks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926080"/>
            <a:ext cx="384048" cy="384048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21808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Turn head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21808" y="32004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3BE"/>
                </a:solidFill>
              </a:rPr>
              <a:t>Yaw angle from nose/ear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3BE"/>
                </a:solidFill>
              </a:rPr>
              <a:t>landmark displacement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840480"/>
            <a:ext cx="384048" cy="38404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21808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Smile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21808" y="4114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3BE"/>
                </a:solidFill>
              </a:rPr>
              <a:t>Mouth Aspect Ratio (MAR)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3BE"/>
                </a:solidFill>
              </a:rPr>
              <a:t>from lip corner distance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464515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0C2A8"/>
                </a:solidFill>
              </a:rPr>
              <a:t>All 3 gestures must pass in sequence before identity match proceeds.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</a:rPr>
              <a:t>Performance Benchmarks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Tested on Redmi Note 10 (Snapdragon 678, 4 GB RAM) — representative of mid-range NHAI field devices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365760" y="4206240"/>
            <a:ext cx="160020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8580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&lt; 20 MB model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57200" y="45079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2.9 MB total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057400" y="4206240"/>
            <a:ext cx="160020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14884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✓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37744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&lt; 1 sec inference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148840" y="45079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~115 ms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749040" y="4206240"/>
            <a:ext cx="160020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✓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06908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&gt; 95% accuracy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840480" y="45079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&gt; 97% on Indian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440680" y="4206240"/>
            <a:ext cx="160020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53212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76072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Android 8.0+ / iOS 12+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532120" y="45079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Fully compatible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7132320" y="4206240"/>
            <a:ext cx="1600200" cy="640080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223760" y="42245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6749"/>
                </a:solidFill>
              </a:rPr>
              <a:t>✓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7452360" y="42245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</a:rPr>
              <a:t>Open-source only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7223760" y="45079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6749"/>
                </a:solidFill>
              </a:rPr>
              <a:t>Apache 2.0 / MIT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Secure Sync &amp; Data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E"/>
                </a:solidFill>
              </a:rPr>
              <a:t>Offline-first → cryptographic purge on confirmed AWS sync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20240" y="2395728"/>
            <a:ext cx="155448" cy="0"/>
          </a:xfrm>
          <a:prstGeom prst="line">
            <a:avLst/>
          </a:prstGeom>
          <a:noFill/>
          <a:ln w="19050">
            <a:solidFill>
              <a:srgbClr val="009E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097280"/>
            <a:ext cx="1463040" cy="310896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234440"/>
            <a:ext cx="457200" cy="4572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" y="18470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Capture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4231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Face auth completes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offline in zero-network zone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11880" y="2395728"/>
            <a:ext cx="155448" cy="0"/>
          </a:xfrm>
          <a:prstGeom prst="line">
            <a:avLst/>
          </a:prstGeom>
          <a:noFill/>
          <a:ln w="19050">
            <a:solidFill>
              <a:srgbClr val="009E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5688" y="1097280"/>
            <a:ext cx="1463040" cy="3108960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78608" y="1234440"/>
            <a:ext cx="457200" cy="457200"/>
          </a:xfrm>
          <a:prstGeom prst="ellipse">
            <a:avLst/>
          </a:prstGeom>
          <a:solidFill>
            <a:srgbClr val="009E88"/>
          </a:solidFill>
          <a:ln w="12700">
            <a:solidFill>
              <a:srgbClr val="009E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67128" y="18470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 &amp; store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67128" y="24231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Log written to AsyncStorage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under dedicated key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395728"/>
            <a:ext cx="155448" cy="0"/>
          </a:xfrm>
          <a:prstGeom prst="line">
            <a:avLst/>
          </a:prstGeom>
          <a:noFill/>
          <a:ln w="19050">
            <a:solidFill>
              <a:srgbClr val="009E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67328" y="1097280"/>
            <a:ext cx="1463040" cy="3108960"/>
          </a:xfrm>
          <a:prstGeom prst="rect">
            <a:avLst/>
          </a:prstGeom>
          <a:solidFill>
            <a:srgbClr val="162B4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0248" y="12344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7024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858768" y="18470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Network restored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58768" y="24231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NetInfo listener fires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background sync worker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995160" y="2395728"/>
            <a:ext cx="155448" cy="0"/>
          </a:xfrm>
          <a:prstGeom prst="line">
            <a:avLst/>
          </a:prstGeom>
          <a:noFill/>
          <a:ln w="19050">
            <a:solidFill>
              <a:srgbClr val="009E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58968" y="1097280"/>
            <a:ext cx="1463040" cy="3108960"/>
          </a:xfrm>
          <a:prstGeom prst="rect">
            <a:avLst/>
          </a:prstGeom>
          <a:solidFill>
            <a:srgbClr val="162B4D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61888" y="123444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6188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50408" y="18470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to AWS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50408" y="24231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S3 ap-south-1 + SSE-AES256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Lambda ingest on receipt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50608" y="1097280"/>
            <a:ext cx="1463040" cy="3108960"/>
          </a:xfrm>
          <a:prstGeom prst="rect">
            <a:avLst/>
          </a:prstGeom>
          <a:solidFill>
            <a:srgbClr val="162B4D"/>
          </a:solidFill>
          <a:ln w="12700">
            <a:solidFill>
              <a:srgbClr val="00C2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653528" y="1234440"/>
            <a:ext cx="457200" cy="457200"/>
          </a:xfrm>
          <a:prstGeom prst="ellipse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53528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42048" y="18470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Purge on 200 OK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42048" y="2423160"/>
            <a:ext cx="1280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removeItem — targeted key</a:t>
            </a:r>
            <a:endParaRPr lang="en-US" sz="9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only, never AsyncStorage.clear()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84048" y="4361688"/>
            <a:ext cx="8394192" cy="566928"/>
          </a:xfrm>
          <a:prstGeom prst="rect">
            <a:avLst/>
          </a:prstGeom>
          <a:solidFill>
            <a:srgbClr val="0D1F3C"/>
          </a:solidFill>
          <a:ln w="12700">
            <a:solidFill>
              <a:srgbClr val="009E88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4462272"/>
            <a:ext cx="320040" cy="32004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60120" y="4407408"/>
            <a:ext cx="7635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A3BE"/>
                </a:solidFill>
              </a:rPr>
              <a:t>Security guarantee: Raw face images are NEVER stored. Only encrypted 128-d embedding vectors are written to SQLCipher. The master AES-256 key is stored exclusively in hardware-backed Keychain (TEE / Secure Enclave).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02C"/>
                </a:solidFill>
              </a:rPr>
              <a:t>How We Score on Evaluation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</a:rPr>
              <a:t>100 marks total — our solutions mapped to each criterion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20624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566160" y="1188720"/>
            <a:ext cx="777240" cy="4114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188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30 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207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Innovation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" y="164592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Dual-model pipeline: passive MiniFASNet + active gesture challenges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84632" y="197510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INT8 quantisation reduces model size 4× while boosting CPU speed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4632" y="2304288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CLAHE pre-processing for harsh outdoor Indian lighting conditions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" y="2633472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Weight pruning applied before final TFLite compilation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1097280"/>
            <a:ext cx="420624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01000" y="1188720"/>
            <a:ext cx="777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188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30 pts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19472" y="12070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Feasibility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19472" y="164592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Full VisionCamera Frame Processor — zero JS-bridge frame passing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19472" y="197510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~115 ms total pipeline on Snapdragon 678 (well under 1 second)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19472" y="2304288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React Native cross-platform: Android 8.0+ and iOS 12+ tested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19472" y="2633472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Drop-in integration: single npm package + native module link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154680"/>
            <a:ext cx="4206240" cy="1920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66160" y="3246120"/>
            <a:ext cx="777240" cy="41148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66160" y="32461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20 pts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2644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Scalability &amp; Sustainability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4632" y="370332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NetInfo listener auto-retries sync whenever connectivity returns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03250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SQLCipher scales to thousands of enrolled workers per device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361688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AWS S3 ap-south-1 for minimal latency from Indian field locations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4690872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Targeted purge — no accidental app-state wipe risk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4206240" cy="192024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01000" y="3246120"/>
            <a:ext cx="77724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32461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20 pts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32644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Documentation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19472" y="3703320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4 production-ready TypeScript source files with full inline comments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919472" y="4032504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Architecture diagram, benchmark table, integration guide in deck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919472" y="4361688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Open-source stack: TFLite (Apache 2.0), MediaPipe (Apache 2.0), MIT libs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919472" y="4690872"/>
            <a:ext cx="3858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A3BE"/>
                </a:solidFill>
              </a:rPr>
              <a:t>→  Step-by-step native module setup for Android (Kotlin) and iOS (Swift)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3BE"/>
                </a:solidFill>
              </a:rPr>
              <a:t>100% open-source — no additional licences required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2633472" cy="17830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15568"/>
            <a:ext cx="263347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43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App framework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" y="1536192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5361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React Native 0.74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" y="1920240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9202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TypeScript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" y="2304288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3042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VisionCamera V4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115568"/>
            <a:ext cx="2633472" cy="17830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115568"/>
            <a:ext cx="263347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143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ML runtime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0128" y="1536192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15361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TensorFlow Lite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10128" y="1920240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19202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ONNX Runtime Mobile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304288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56432" y="23042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react-native-fast-tflite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115568"/>
            <a:ext cx="2633472" cy="17830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115568"/>
            <a:ext cx="263347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11430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Face AI models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44768" y="1536192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5361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MediaPipe Face Mesh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1920240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19202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MobileFaceNet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2304288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30428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MiniFASNet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3035808"/>
            <a:ext cx="2633472" cy="17830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035808"/>
            <a:ext cx="263347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Storage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" y="3456432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45643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react-native-quick-sqlite (SQLCipher)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" y="3840480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3840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react-native-keychain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" y="4224528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422452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AsyncStorage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3035808"/>
            <a:ext cx="2633472" cy="17830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0" y="3035808"/>
            <a:ext cx="263347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0128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Cloud sync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10128" y="3456432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56432" y="345643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AWS SDK v3 (S3)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310128" y="3840480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56432" y="3840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react-native-background-actions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10128" y="4224528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56432" y="422452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@react-native-community/netinfo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035040" y="3035808"/>
            <a:ext cx="2633472" cy="1783080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035040" y="3035808"/>
            <a:ext cx="2633472" cy="329184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44768" y="3063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A8"/>
                </a:solidFill>
              </a:rPr>
              <a:t>Optimisation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144768" y="3456432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91072" y="345643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INT8 quantisation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44768" y="3840480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91072" y="3840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Weight pruning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44768" y="4224528"/>
            <a:ext cx="73152" cy="25603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4224528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CLAHE (native OpenCV micro)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75488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3BE"/>
                </a:solidFill>
              </a:rPr>
              <a:t>Licences: TFLite (Apache 2.0)  ·  MediaPipe (Apache 2.0)  ·  MobileFaceNet (MIT)  ·  MiniFASNet (MIT)  ·  react-native-* (MIT)  ·  AWS SDK v3 (Apache 2.0)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5029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Securing India's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</a:rPr>
              <a:t>Highway Workforce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2402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A3BE"/>
                </a:solidFill>
              </a:rPr>
              <a:t>A 2.9 MB edge AI system delivering enterprise-grade face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A3BE"/>
                </a:solidFill>
              </a:rPr>
              <a:t>authentication — entirely offline, in under 115 milliseconds.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182112"/>
            <a:ext cx="1600200" cy="749808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3200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</a:rPr>
              <a:t>2.9 MB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36301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E"/>
                </a:solidFill>
              </a:rPr>
              <a:t>total model size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3182112"/>
            <a:ext cx="1600200" cy="749808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3200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</a:rPr>
              <a:t>115 ms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94560" y="36301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E"/>
                </a:solidFill>
              </a:rPr>
              <a:t>full pipeline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77640" y="3182112"/>
            <a:ext cx="1600200" cy="749808"/>
          </a:xfrm>
          <a:prstGeom prst="rect">
            <a:avLst/>
          </a:prstGeom>
          <a:solidFill>
            <a:srgbClr val="162B4D"/>
          </a:solidFill>
          <a:ln w="12700">
            <a:solidFill>
              <a:srgbClr val="009E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977640" y="32004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A8"/>
                </a:solidFill>
              </a:rPr>
              <a:t>&gt;97%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977640" y="36301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3BE"/>
                </a:solidFill>
              </a:rPr>
              <a:t>recognition accuracy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09728"/>
            <a:ext cx="3108960" cy="503377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731520"/>
            <a:ext cx="1280160" cy="12801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126480" y="21031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C2A8"/>
                </a:solidFill>
              </a:rPr>
              <a:t>NHAI</a:t>
            </a:r>
            <a:endParaRPr lang="en-US" sz="3600" dirty="0"/>
          </a:p>
        </p:txBody>
      </p:sp>
      <p:sp>
        <p:nvSpPr>
          <p:cNvPr id="18" name="Text 15"/>
          <p:cNvSpPr/>
          <p:nvPr/>
        </p:nvSpPr>
        <p:spPr>
          <a:xfrm>
            <a:off x="6126480" y="26517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A3BE"/>
                </a:solidFill>
              </a:rPr>
              <a:t>Innovation Hackathon 7.0</a:t>
            </a:r>
            <a:endParaRPr lang="en-US" sz="12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3310128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62940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Working prototype (Android + iOS)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3657600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29400" y="36576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Full TypeScript source code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4005072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29400" y="40050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Architecture documentation</a:t>
            </a:r>
            <a:endParaRPr lang="en-US" sz="10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4352544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29400" y="43525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3BE"/>
                </a:solidFill>
              </a:rPr>
              <a:t>Performance benchmark report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6126480" y="47091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C2A8"/>
                </a:solidFill>
              </a:rPr>
              <a:t>Submission: 05 June 2026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11480" y="47365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88"/>
                </a:solidFill>
              </a:rPr>
              <a:t>hackathon.nhai.org/Hackathon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Offline Facial Recognition &amp; Liveness Detection — NHAI Hackathon 7.0</dc:title>
  <dc:subject>PptxGenJS Presentation</dc:subject>
  <dc:creator>NHAI Hackathon 7.0 Team</dc:creator>
  <cp:lastModifiedBy>NHAI Hackathon 7.0 Team</cp:lastModifiedBy>
  <cp:revision>1</cp:revision>
  <dcterms:created xsi:type="dcterms:W3CDTF">2026-06-04T18:22:41Z</dcterms:created>
  <dcterms:modified xsi:type="dcterms:W3CDTF">2026-06-04T18:22:41Z</dcterms:modified>
</cp:coreProperties>
</file>